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anumSquare Bold"/>
      <p:bold r:id="rId11"/>
    </p:embeddedFont>
    <p:embeddedFont>
      <p:font typeface="NanumSquare ExtraBold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241300"/>
            <a:ext cx="18554700" cy="191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260600" y="8623300"/>
            <a:ext cx="227203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9740900"/>
            <a:ext cx="18554700" cy="698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946400" y="3987800"/>
            <a:ext cx="12395200" cy="224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3749"/>
              </a:lnSpc>
            </a:pPr>
            <a:r>
              <a:rPr lang="ko-KR" sz="6700" b="false" i="false" u="none" strike="noStrike" spc="-100">
                <a:solidFill>
                  <a:srgbClr val="595959"/>
                </a:solidFill>
                <a:ea typeface="NanumSquare Bold"/>
              </a:rPr>
              <a:t>사랑의</a:t>
            </a:r>
            <a:r>
              <a:rPr lang="en-US" sz="6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6700" b="false" i="false" u="none" strike="noStrike" spc="-100">
                <a:solidFill>
                  <a:srgbClr val="595959"/>
                </a:solidFill>
                <a:ea typeface="NanumSquare Bold"/>
              </a:rPr>
              <a:t>심리학</a:t>
            </a:r>
          </a:p>
          <a:p>
            <a:pPr algn="ctr" lvl="0">
              <a:lnSpc>
                <a:spcPct val="103749"/>
              </a:lnSpc>
            </a:pPr>
            <a:r>
              <a:rPr lang="ko-KR" sz="6700" b="true" i="false" u="none" strike="noStrike" spc="-100">
                <a:solidFill>
                  <a:srgbClr val="595959"/>
                </a:solidFill>
                <a:ea typeface="NanumSquare Bold"/>
              </a:rPr>
              <a:t>클라크</a:t>
            </a:r>
            <a:r>
              <a:rPr lang="en-US" sz="6700" b="true" i="false" u="none" strike="noStrike" spc="-100">
                <a:solidFill>
                  <a:srgbClr val="595959"/>
                </a:solidFill>
                <a:latin typeface="NanumSquare Bold"/>
              </a:rPr>
              <a:t> : </a:t>
            </a:r>
            <a:r>
              <a:rPr lang="ko-KR" sz="6700" b="true" i="false" u="none" strike="noStrike" spc="-100">
                <a:solidFill>
                  <a:srgbClr val="595959"/>
                </a:solidFill>
                <a:ea typeface="NanumSquare Bold"/>
              </a:rPr>
              <a:t>사랑의</a:t>
            </a:r>
            <a:r>
              <a:rPr lang="en-US" sz="6700" b="tru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6700" b="true" i="false" u="none" strike="noStrike" spc="-100">
                <a:solidFill>
                  <a:srgbClr val="595959"/>
                </a:solidFill>
                <a:ea typeface="NanumSquare Bold"/>
              </a:rPr>
              <a:t>공동반응</a:t>
            </a:r>
            <a:r>
              <a:rPr lang="en-US" sz="6700" b="true" i="false" u="none" strike="noStrike" spc="-100">
                <a:solidFill>
                  <a:srgbClr val="595959"/>
                </a:solidFill>
                <a:latin typeface="NanumSquare Bold"/>
              </a:rPr>
              <a:t> &amp; </a:t>
            </a:r>
            <a:r>
              <a:rPr lang="ko-KR" sz="6700" b="true" i="false" u="none" strike="noStrike" spc="-100">
                <a:solidFill>
                  <a:srgbClr val="595959"/>
                </a:solidFill>
                <a:ea typeface="NanumSquare Bold"/>
              </a:rPr>
              <a:t>우정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1000" y="9029700"/>
            <a:ext cx="99187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7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조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 (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강승연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김찬규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김범수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유영풍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100" b="false" i="false" u="none" strike="noStrike">
                <a:solidFill>
                  <a:srgbClr val="595959"/>
                </a:solidFill>
                <a:ea typeface="NanumSquare Bold"/>
              </a:rPr>
              <a:t>박하늘</a:t>
            </a:r>
            <a:r>
              <a:rPr lang="en-US" sz="2100" b="false" i="false" u="none" strike="noStrike">
                <a:solidFill>
                  <a:srgbClr val="595959"/>
                </a:solidFill>
                <a:latin typeface="NanumSquare Bold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241300"/>
            <a:ext cx="18554700" cy="105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10058400"/>
            <a:ext cx="18554700" cy="38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" y="1244600"/>
            <a:ext cx="117856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클라크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: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사랑의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공동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반응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5500" y="3073400"/>
            <a:ext cx="156083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사랑이란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?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공동반응의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서로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다른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형태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비보상적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암묵적인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위계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/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잠재적인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위계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공동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반응의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강도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241300"/>
            <a:ext cx="18554700" cy="105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10058400"/>
            <a:ext cx="18554700" cy="38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" y="1244600"/>
            <a:ext cx="117856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공동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관계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5500" y="3073400"/>
            <a:ext cx="11061700" cy="2755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성공적인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공동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관계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공동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관계의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표현</a:t>
            </a:r>
          </a:p>
          <a:p>
            <a:pPr algn="l" lvl="1">
              <a:lnSpc>
                <a:spcPct val="99600"/>
              </a:lnSpc>
            </a:pP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241300"/>
            <a:ext cx="18554700" cy="105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10058400"/>
            <a:ext cx="18554700" cy="38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" y="1244600"/>
            <a:ext cx="117856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우정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5500" y="3073400"/>
            <a:ext cx="16662400" cy="361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스턴버그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-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사랑의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삼각형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이론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클라이드와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수잔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헨드리크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-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스토르게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엘런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버샤이드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-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우정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⊂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우애적인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사랑</a:t>
            </a:r>
          </a:p>
          <a:p>
            <a:pPr algn="l" lvl="1">
              <a:lnSpc>
                <a:spcPct val="99600"/>
              </a:lnSpc>
            </a:pP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241300"/>
            <a:ext cx="18554700" cy="105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10058400"/>
            <a:ext cx="18554700" cy="381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" y="1244600"/>
            <a:ext cx="169037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우리는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어떻게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친구를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8000" b="false" i="false" u="none" strike="noStrike">
                <a:solidFill>
                  <a:srgbClr val="595959"/>
                </a:solidFill>
                <a:ea typeface="NanumSquare ExtraBold"/>
              </a:rPr>
              <a:t>선택하는가</a:t>
            </a:r>
            <a:r>
              <a:rPr lang="en-US" sz="8000" b="false" i="false" u="none" strike="noStrike">
                <a:solidFill>
                  <a:srgbClr val="595959"/>
                </a:solidFill>
                <a:latin typeface="NanumSquare ExtraBold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5500" y="3073400"/>
            <a:ext cx="166624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친구를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선택하는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기준</a:t>
            </a:r>
          </a:p>
          <a:p>
            <a:pPr algn="l" lvl="0" indent="-342900" marL="342900">
              <a:lnSpc>
                <a:spcPct val="99600"/>
              </a:lnSpc>
              <a:buClr>
                <a:srgbClr val="595959"/>
              </a:buClr>
              <a:buFont typeface="Arial"/>
              <a:buChar char="●"/>
            </a:pP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우정의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중요한</a:t>
            </a:r>
            <a:r>
              <a:rPr lang="en-US" sz="57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5700" b="false" i="false" u="none" strike="noStrike">
                <a:solidFill>
                  <a:srgbClr val="595959"/>
                </a:solidFill>
                <a:ea typeface="NanumSquare Bold"/>
              </a:rPr>
              <a:t>요소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